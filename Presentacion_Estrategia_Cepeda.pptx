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Bienvenidos. Hoy no vamos a hablar de cómo convencer a la extrema derecha, sino de cómo movilizar a la gran masa silenciada de Medellín. Vamos a hablar de inteligencia de datos aplicada a la campaña de Iván Cepeda, utilizando censo milimétrico para encontrar nuestra mayor oportunidad de crecimiento.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mapa tradicional nos pinta un Medellín azul, dominado por la derecha. Pero si miramos de cerca, el verdadero ganador histórico en muchas comunas populares es la desconexión. Nuestro techo electoral no lo define la derecha, lo define la abstención.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esta campaña, descartamos las estimaciones a ojo. Integramos el Divipole 2026 para conocer exactamente, puesto por puesto, cuántos hombres y mujeres pueden votar. Si en un puesto hay 12,000 habilitados y solo votaron 4,000, sabemos con coordenadas exactas dónde están esos 8,000 votos faltantes.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tiene sentido ir a buscar abstencionistas en El Poblado, donde la afinidad histórica nos castiga. El 'Voto Oportunidad' pondera matemáticamente la abstención por el nivel de favorabilidad hacia la izquierda en ese barrio específico. Buscamos bolsas de abstención en terrenos fértiles.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superponemos nuestra fórmula en el mapa, la ciudad cambia. Las zonas rojas y moradas nos muestran dónde el estado y las campañas tradicionales no han llegado. Aquí es donde Iván Cepeda tiene margen de crecimiento a bajo costo.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una campaña, el tiempo y los recursos son finitos. Hemos aislado el Top 50 de barrios críticos. Si concentramos nuestra logística, pauta y recorridos físicos exclusivamente en estos sectores, maximizamos cada peso y cada hora invertida.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potencial no es militante. No responden a discursos ideológicos densos. Son personas que sufren los problemas reales de la ciudad y sienten que la política los abandonó. Nuestro mensaje debe ser pragmático, empático y directo.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un indeciso no se le convence con un debate de izquierda vs. derecha. Se le convence demostrando que su voto sí cambia su realidad. La narrativa de Iván Cepeda debe enfocarse en su coherencia histórica: el hombre que enfrenta a los poderosos, ahora viene a defender tu barrio.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aplicación, sabemos exactamente a qué cuadra y a qué escuela ir. El trabajo en tierra será de pedagogía uno-a-uno en el Top 50. Activaremos a líderes locales no para convencer al convencido, sino para enseñar a votar al que nunca lo hace.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gastaremos dinero mostrando anuncios en sectores donde ya sabemos que no nos van a votar. Toda nuestra pauta digital estará delimitada por GPS a los polígonos de nuestro Top 50. Será una campaña invisible para el resto de la ciudad, pero omnipresente para nuestros indecisos.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estrategia basada en datos requiere medición constante. Monitorearemos nuestro impacto semanalmente, no a nivel ciudad, sino barrio por barrio dentro de nuestra lista prioritaria. Ajustaremos la pauta y las visitas en tiempo real.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ganar no necesitamos milagros, necesitamos método. La ciencia de datos nos ha dado el mapa del tesoro. Ahora, con el mensaje correcto y la presencia de Iván Cepeda en el territorio exacto, vamos a convertir la abstención en nuestra mayor fortaleza electoral. Muchas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Inteligencia Electoral: Encontrando los Votos Ocultos</a:t>
            </a:r>
          </a:p>
        </p:txBody>
      </p:sp>
      <p:sp>
        <p:nvSpPr>
          <p:cNvPr id="3" name="Subtitle 2"/>
          <p:cNvSpPr>
            <a:spLocks noGrp="1"/>
          </p:cNvSpPr>
          <p:nvPr>
            <p:ph type="subTitle" idx="1"/>
          </p:nvPr>
        </p:nvSpPr>
        <p:spPr/>
        <p:txBody>
          <a:bodyPr/>
          <a:lstStyle/>
          <a:p>
            <a:r>
              <a:t>Estrategia de Micro-Focalización para la Captación de Indecisos y Abstencionistas – Iván Cepeda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Ilusión del Techo Electoral</a:t>
            </a:r>
          </a:p>
        </p:txBody>
      </p:sp>
      <p:sp>
        <p:nvSpPr>
          <p:cNvPr id="3" name="Content Placeholder 2"/>
          <p:cNvSpPr>
            <a:spLocks noGrp="1"/>
          </p:cNvSpPr>
          <p:nvPr>
            <p:ph idx="1"/>
          </p:nvPr>
        </p:nvSpPr>
        <p:spPr/>
        <p:txBody>
          <a:bodyPr/>
          <a:lstStyle/>
          <a:p>
            <a:r>
              <a:t>La narrativa tradicional dice que 'Medellín es de derecha'.</a:t>
            </a:r>
          </a:p>
          <a:p>
            <a:pPr/>
            <a:r>
              <a:t>Los datos muestran que el mayor partido es la Abstención y el Voto en Blanco.</a:t>
            </a:r>
          </a:p>
          <a:p>
            <a:pPr/>
            <a:r>
              <a:t>Crecer robando votos a la derecha es costoso e ineficiente.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 la Estimación a la Precisión Mesa a Mesa</a:t>
            </a:r>
          </a:p>
        </p:txBody>
      </p:sp>
      <p:sp>
        <p:nvSpPr>
          <p:cNvPr id="3" name="Content Placeholder 2"/>
          <p:cNvSpPr>
            <a:spLocks noGrp="1"/>
          </p:cNvSpPr>
          <p:nvPr>
            <p:ph idx="1"/>
          </p:nvPr>
        </p:nvSpPr>
        <p:spPr/>
        <p:txBody>
          <a:bodyPr/>
          <a:lstStyle/>
          <a:p>
            <a:r>
              <a:t>Adiós a las estimaciones por comuna.</a:t>
            </a:r>
          </a:p>
          <a:p>
            <a:pPr/>
            <a:r>
              <a:t>Uso directo del Censo Electoral Divipole 2026.</a:t>
            </a:r>
          </a:p>
          <a:p>
            <a:pPr/>
            <a:r>
              <a:t>Cruce espacial: Se mapearon 2403 puestos exactos hacia sus respectivos barrios.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Fórmula de la Victoria</a:t>
            </a:r>
          </a:p>
        </p:txBody>
      </p:sp>
      <p:sp>
        <p:nvSpPr>
          <p:cNvPr id="3" name="Content Placeholder 2"/>
          <p:cNvSpPr>
            <a:spLocks noGrp="1"/>
          </p:cNvSpPr>
          <p:nvPr>
            <p:ph idx="1"/>
          </p:nvPr>
        </p:nvSpPr>
        <p:spPr/>
        <p:txBody>
          <a:bodyPr/>
          <a:lstStyle/>
          <a:p>
            <a:r>
              <a:t>Oportunidad = (Abstención × Afinidad a Cepeda) + Votos Blancos/Nulos + Votos Alternativos.</a:t>
            </a:r>
          </a:p>
          <a:p>
            <a:pPr/>
            <a:r>
              <a:t>No buscamos a todos los que no votan; buscamos a los que no votan pero piensan como nosotros.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Geografía de la Indecisión</a:t>
            </a:r>
          </a:p>
        </p:txBody>
      </p:sp>
      <p:sp>
        <p:nvSpPr>
          <p:cNvPr id="3" name="Content Placeholder 2"/>
          <p:cNvSpPr>
            <a:spLocks noGrp="1"/>
          </p:cNvSpPr>
          <p:nvPr>
            <p:ph idx="1"/>
          </p:nvPr>
        </p:nvSpPr>
        <p:spPr/>
        <p:txBody>
          <a:bodyPr/>
          <a:lstStyle/>
          <a:p>
            <a:r>
              <a:t>Las zonas céntricas y de estrato alto tienen alta participación y voto duro de derecha.</a:t>
            </a:r>
          </a:p>
          <a:p>
            <a:pPr/>
            <a:r>
              <a:t>Las zonas periféricas (Nororiente, Noroccidente, Corregimientos) concentran el potencial inactivo.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Micro-Focalización: El Top 50</a:t>
            </a:r>
          </a:p>
        </p:txBody>
      </p:sp>
      <p:sp>
        <p:nvSpPr>
          <p:cNvPr id="3" name="Content Placeholder 2"/>
          <p:cNvSpPr>
            <a:spLocks noGrp="1"/>
          </p:cNvSpPr>
          <p:nvPr>
            <p:ph idx="1"/>
          </p:nvPr>
        </p:nvSpPr>
        <p:spPr/>
        <p:txBody>
          <a:bodyPr/>
          <a:lstStyle/>
          <a:p>
            <a:r>
              <a:t>Identificamos los 50 barrios con el mayor 'Voto Oportunidad'.</a:t>
            </a:r>
          </a:p>
          <a:p>
            <a:pPr/>
            <a:r>
              <a:t>Representan el ROI (Retorno de Inversión) político más alto.</a:t>
            </a:r>
          </a:p>
          <a:p>
            <a:pPr/>
            <a:r>
              <a:t>Concentración de esfuerzos de campaña (Tierra y Aire).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Quién le Estamos Hablando?</a:t>
            </a:r>
          </a:p>
        </p:txBody>
      </p:sp>
      <p:sp>
        <p:nvSpPr>
          <p:cNvPr id="3" name="Content Placeholder 2"/>
          <p:cNvSpPr>
            <a:spLocks noGrp="1"/>
          </p:cNvSpPr>
          <p:nvPr>
            <p:ph idx="1"/>
          </p:nvPr>
        </p:nvSpPr>
        <p:spPr/>
        <p:txBody>
          <a:bodyPr/>
          <a:lstStyle/>
          <a:p>
            <a:r>
              <a:t>Desencantados: Sienten que 'todos son iguales'.</a:t>
            </a:r>
          </a:p>
          <a:p>
            <a:pPr/>
            <a:r>
              <a:t>Votantes de Opinión Blanda: Votaron en blanco o nulo por falta de conexión emocional.</a:t>
            </a:r>
          </a:p>
          <a:p>
            <a:pPr/>
            <a:r>
              <a:t>Jóvenes y Mujeres: Segmentos con mayor volatilidad en nuestro Divipole.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Mensaje: Hechos, No Promesas</a:t>
            </a:r>
          </a:p>
        </p:txBody>
      </p:sp>
      <p:sp>
        <p:nvSpPr>
          <p:cNvPr id="3" name="Content Placeholder 2"/>
          <p:cNvSpPr>
            <a:spLocks noGrp="1"/>
          </p:cNvSpPr>
          <p:nvPr>
            <p:ph idx="1"/>
          </p:nvPr>
        </p:nvSpPr>
        <p:spPr/>
        <p:txBody>
          <a:bodyPr/>
          <a:lstStyle/>
          <a:p>
            <a:r>
              <a:t>Contraste: La derecha habla de miedo; Cepeda debe hablar de paz material (seguridad económica, justicia social).</a:t>
            </a:r>
          </a:p>
          <a:p>
            <a:pPr/>
            <a:r>
              <a:t>Trayectoria: Validar la lucha anticorrupción y por la paz de Cepeda como garantía de cumplimiento.</a:t>
            </a:r>
          </a:p>
          <a:p>
            <a:pPr/>
            <a:r>
              <a:t>Llamado a la acción: 'Tu silencio le da el poder a los mismos de siempre.'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Táctica Territorial en el Top 50</a:t>
            </a:r>
          </a:p>
        </p:txBody>
      </p:sp>
      <p:sp>
        <p:nvSpPr>
          <p:cNvPr id="3" name="Content Placeholder 2"/>
          <p:cNvSpPr>
            <a:spLocks noGrp="1"/>
          </p:cNvSpPr>
          <p:nvPr>
            <p:ph idx="1"/>
          </p:nvPr>
        </p:nvSpPr>
        <p:spPr/>
        <p:txBody>
          <a:bodyPr/>
          <a:lstStyle/>
          <a:p>
            <a:r>
              <a:t>Tomas Barriales: Eventos en los puestos de votación de mayor potencial.</a:t>
            </a:r>
          </a:p>
          <a:p>
            <a:pPr/>
            <a:r>
              <a:t>Comités de Cuidado: Líderes de cuadra encargados de pedagogía electoral.</a:t>
            </a:r>
          </a:p>
          <a:p>
            <a:pPr/>
            <a:r>
              <a:t>Movilización Focalizada: Activación de mujeres y jóvenes.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Estrategia Digital Geo-Focalizada</a:t>
            </a:r>
          </a:p>
        </p:txBody>
      </p:sp>
      <p:sp>
        <p:nvSpPr>
          <p:cNvPr id="3" name="Content Placeholder 2"/>
          <p:cNvSpPr>
            <a:spLocks noGrp="1"/>
          </p:cNvSpPr>
          <p:nvPr>
            <p:ph idx="1"/>
          </p:nvPr>
        </p:nvSpPr>
        <p:spPr/>
        <p:txBody>
          <a:bodyPr/>
          <a:lstStyle/>
          <a:p>
            <a:r>
              <a:t>Anuncios digitales (Meta, YouTube) segmentados exclusivamente en los polígonos del Top 50.</a:t>
            </a:r>
          </a:p>
          <a:p>
            <a:pPr/>
            <a:r>
              <a:t>Mensajes hiper-locales: 'En el barrio [X], merecemos más'.</a:t>
            </a:r>
          </a:p>
          <a:p>
            <a:pPr/>
            <a:r>
              <a:t>Retargeting a usuarios que interactúan con contenido de paz o justicia social.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Control y Seguimiento</a:t>
            </a:r>
          </a:p>
        </p:txBody>
      </p:sp>
      <p:sp>
        <p:nvSpPr>
          <p:cNvPr id="3" name="Content Placeholder 2"/>
          <p:cNvSpPr>
            <a:spLocks noGrp="1"/>
          </p:cNvSpPr>
          <p:nvPr>
            <p:ph idx="1"/>
          </p:nvPr>
        </p:nvSpPr>
        <p:spPr/>
        <p:txBody>
          <a:bodyPr/>
          <a:lstStyle/>
          <a:p>
            <a:r>
              <a:t>KPI 1: Reducción del porcentaje de indecisos en encuestas focalizadas en el Top 50.</a:t>
            </a:r>
          </a:p>
          <a:p>
            <a:pPr/>
            <a:r>
              <a:t>KPI 2: Tasa de reclutamiento de testigos electorales en los puestos de alta 'Oportunidad'.</a:t>
            </a:r>
          </a:p>
          <a:p>
            <a:pPr/>
            <a:r>
              <a:t>KPI 3: Interacción digital y CTR (Click-through rate) por comuna.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Camino a la Victoria</a:t>
            </a:r>
          </a:p>
        </p:txBody>
      </p:sp>
      <p:sp>
        <p:nvSpPr>
          <p:cNvPr id="3" name="Content Placeholder 2"/>
          <p:cNvSpPr>
            <a:spLocks noGrp="1"/>
          </p:cNvSpPr>
          <p:nvPr>
            <p:ph idx="1"/>
          </p:nvPr>
        </p:nvSpPr>
        <p:spPr/>
        <p:txBody>
          <a:bodyPr/>
          <a:lstStyle/>
          <a:p>
            <a:r>
              <a:t>Los votos existen; solo están inactivos.</a:t>
            </a:r>
          </a:p>
          <a:p>
            <a:pPr/>
            <a:r>
              <a:t>Tenemos la tecnología (App, Divipole, Georreferenciación) para encontrarlos.</a:t>
            </a:r>
          </a:p>
          <a:p>
            <a:pPr/>
            <a:r>
              <a:t>Iván Cepeda representa el perfil exacto de coherencia para activar este voto indignado.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